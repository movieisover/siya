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시야 PC앱 기획서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한국 주식 가치투자 분석 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테마 분석 + 스크리너 | Top-down + Bottom-up 병행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2026.03 v4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목차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1. 시야란 무엇인가?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2. 두 가지 분석 방식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3. 화면 구성 및 PC 목업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4. 스크리너 기능 &amp; 종합 점수 계산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5. 테마 시그널 &amp; 신뢰도 &amp; 방향예측 &amp; 타이밍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6. 데이터 흐름도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7. 시야 AI 화면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8. 테마 목록 &amp; 시그널 기준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9. 기술 스택 &amp; 다음 단계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시야란 무엇인가?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</a:rPr>
              <a:t>"시야(視野)" = 넓은 시각으로 시장을 분석하는 가치투자 도구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테마 분석 (Top-down)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시장 테마/섹터 먼저 파악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테마 내 시그널 감지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관련 종목 자동 분석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뉴스/트렌드 기반 투자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3840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스크리너 (Bottom-up)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10312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재무지표로 필터링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조건에 맞는 종목 탐색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정량적 점수 기반 정렬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숨겨진 저평가주 발굴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두 가지 분석 방식 비교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테마 분석 (Top-down)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스크리너 (Bottom-up)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시작점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시장 테마/섹터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개별 종목 지표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분석 흐름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테마 → 시그널 → 종목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필터 → 정렬 → 종목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핵심 질문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"지금 어떤 테마가 뜨나?"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"저평가된 우량주는?"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주요 지표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거래량, 수급, 동반상승, RSI/MACD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PER, PBR, ROE, 부채비율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적합한 투자자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트렌드/모멘텀 중시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가치/퀄리티 중시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14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구분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103120" y="914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테마 분석 (Top-down)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94960" y="914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스크리너 (Bottom-up)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화면 구성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PC 3단 레이아웃 + 모드 전환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28800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좌측 패널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테마 목록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또는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필터 슬라이더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280160"/>
            <a:ext cx="3657600" cy="3200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2801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중앙 메인 영역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시그널 카드 / 종목 리스트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차트 및 분석 결과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280160"/>
            <a:ext cx="2560320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28016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우측 패널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종목 상세 정보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재무지표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점수 구성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3840480" cy="3200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테마 분석 모드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4663440"/>
            <a:ext cx="3840480" cy="3200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스크리너 모드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PC 목업: 테마 분석 모드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4206240"/>
          </a:xfrm>
          <a:prstGeom prst="rect">
            <a:avLst/>
          </a:prstGeom>
          <a:solidFill>
            <a:srgbClr val="2D3748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77724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7772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" y="7772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7040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시야 - 테마 분석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2011680" cy="37033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테마 목록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1828800" cy="41148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AI/반도체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1828800" cy="411480"/>
          </a:xfrm>
          <a:prstGeom prst="roundRect">
            <a:avLst/>
          </a:prstGeom>
          <a:solidFill>
            <a:srgbClr val="4B556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8424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2차전지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1828800" cy="411480"/>
          </a:xfrm>
          <a:prstGeom prst="roundRect">
            <a:avLst/>
          </a:prstGeom>
          <a:solidFill>
            <a:srgbClr val="4B556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5973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로봇/자동화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1828800" cy="411480"/>
          </a:xfrm>
          <a:prstGeom prst="roundRect">
            <a:avLst/>
          </a:prstGeom>
          <a:solidFill>
            <a:srgbClr val="4B556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3522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바이오/제약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10712"/>
            <a:ext cx="1828800" cy="411480"/>
          </a:xfrm>
          <a:prstGeom prst="roundRect">
            <a:avLst/>
          </a:prstGeom>
          <a:solidFill>
            <a:srgbClr val="4B556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10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방위산업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1828800" cy="411480"/>
          </a:xfrm>
          <a:prstGeom prst="roundRect">
            <a:avLst/>
          </a:prstGeom>
          <a:solidFill>
            <a:srgbClr val="4B556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86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수소경제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1097280"/>
            <a:ext cx="4023360" cy="37033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AI/반도체 시그널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117043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신뢰도: HIGH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0" y="1170432"/>
            <a:ext cx="731520" cy="22860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11704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5F46"/>
                </a:solidFill>
              </a:rPr>
              <a:t>⬆ 진입적기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606040" y="1554480"/>
            <a:ext cx="1188720" cy="822960"/>
          </a:xfrm>
          <a:prstGeom prst="roundRect">
            <a:avLst/>
          </a:prstGeom>
          <a:solidFill>
            <a:srgbClr val="374151"/>
          </a:solidFill>
          <a:ln/>
        </p:spPr>
      </p:sp>
      <p:sp>
        <p:nvSpPr>
          <p:cNvPr id="29" name="Text 27"/>
          <p:cNvSpPr/>
          <p:nvPr/>
        </p:nvSpPr>
        <p:spPr>
          <a:xfrm>
            <a:off x="2606040" y="1600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거래량 급증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0604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+156%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86200" y="1554480"/>
            <a:ext cx="1188720" cy="822960"/>
          </a:xfrm>
          <a:prstGeom prst="roundRect">
            <a:avLst/>
          </a:prstGeom>
          <a:solidFill>
            <a:srgbClr val="374151"/>
          </a:solidFill>
          <a:ln/>
        </p:spPr>
      </p:sp>
      <p:sp>
        <p:nvSpPr>
          <p:cNvPr id="32" name="Text 30"/>
          <p:cNvSpPr/>
          <p:nvPr/>
        </p:nvSpPr>
        <p:spPr>
          <a:xfrm>
            <a:off x="3886200" y="1600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기관 순매수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8620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+823억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166360" y="1554480"/>
            <a:ext cx="1188720" cy="822960"/>
          </a:xfrm>
          <a:prstGeom prst="roundRect">
            <a:avLst/>
          </a:prstGeom>
          <a:solidFill>
            <a:srgbClr val="374151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16002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동반 상승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6636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78%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606040" y="242316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RSI 58 | MACD 골든크로스 72%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06040" y="2606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관련 종목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06040" y="2880360"/>
            <a:ext cx="3749040" cy="438912"/>
          </a:xfrm>
          <a:prstGeom prst="roundRect">
            <a:avLst/>
          </a:prstGeom>
          <a:solidFill>
            <a:srgbClr val="374151"/>
          </a:solidFill>
          <a:ln/>
        </p:spPr>
      </p:sp>
      <p:sp>
        <p:nvSpPr>
          <p:cNvPr id="40" name="Text 38"/>
          <p:cNvSpPr/>
          <p:nvPr/>
        </p:nvSpPr>
        <p:spPr>
          <a:xfrm>
            <a:off x="269748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삼성전자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49040" y="2926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72,500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63440" y="29260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+3.2%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94960" y="2926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92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06040" y="3383280"/>
            <a:ext cx="3749040" cy="438912"/>
          </a:xfrm>
          <a:prstGeom prst="roundRect">
            <a:avLst/>
          </a:prstGeom>
          <a:solidFill>
            <a:srgbClr val="374151"/>
          </a:solidFill>
          <a:ln/>
        </p:spPr>
      </p:sp>
      <p:sp>
        <p:nvSpPr>
          <p:cNvPr id="45" name="Text 43"/>
          <p:cNvSpPr/>
          <p:nvPr/>
        </p:nvSpPr>
        <p:spPr>
          <a:xfrm>
            <a:off x="2697480" y="3429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SK하이닉스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749040" y="3429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142,000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63440" y="3429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+4.1%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94960" y="3429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88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606040" y="3886200"/>
            <a:ext cx="3749040" cy="438912"/>
          </a:xfrm>
          <a:prstGeom prst="roundRect">
            <a:avLst/>
          </a:prstGeom>
          <a:solidFill>
            <a:srgbClr val="374151"/>
          </a:solidFill>
          <a:ln/>
        </p:spPr>
      </p:sp>
      <p:sp>
        <p:nvSpPr>
          <p:cNvPr id="50" name="Text 48"/>
          <p:cNvSpPr/>
          <p:nvPr/>
        </p:nvSpPr>
        <p:spPr>
          <a:xfrm>
            <a:off x="2697480" y="3931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한미반도체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749040" y="393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89,200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63440" y="3931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+2.8%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94960" y="39319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85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583680" y="1097280"/>
            <a:ext cx="2194560" cy="37033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5" name="Text 53"/>
          <p:cNvSpPr/>
          <p:nvPr/>
        </p:nvSpPr>
        <p:spPr>
          <a:xfrm>
            <a:off x="672084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삼성전자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720840" y="1417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005930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720840" y="1691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종합 점수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80960" y="1600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92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672084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63524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12.3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72084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PBR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63524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1.42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72084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63524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15.2%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72084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부채비율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63524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45%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PC 목업: 스크리너 모드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8595360" cy="4206240"/>
          </a:xfrm>
          <a:prstGeom prst="rect">
            <a:avLst/>
          </a:prstGeom>
          <a:solidFill>
            <a:srgbClr val="2D3748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77724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7772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" y="7772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7040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시야 - 스크리너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2011680" cy="37033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필터 설정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1554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≤15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1828800" cy="73152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783080"/>
            <a:ext cx="12801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48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PBR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1488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≤1.5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1828800" cy="73152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377440"/>
            <a:ext cx="12801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743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ROE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2743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≥10%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1828800" cy="73152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971800"/>
            <a:ext cx="12801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37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부채비율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3337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≤100%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1828800" cy="73152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566160"/>
            <a:ext cx="12801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206240"/>
            <a:ext cx="1828800" cy="3200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필터 적용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1097280"/>
            <a:ext cx="4023360" cy="37033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0" name="Text 28"/>
          <p:cNvSpPr/>
          <p:nvPr/>
        </p:nvSpPr>
        <p:spPr>
          <a:xfrm>
            <a:off x="260604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필터 결과: 127개 종목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1170432"/>
            <a:ext cx="548640" cy="25603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11704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점수순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06040" y="1508760"/>
            <a:ext cx="3749040" cy="2743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4" name="Text 32"/>
          <p:cNvSpPr/>
          <p:nvPr/>
        </p:nvSpPr>
        <p:spPr>
          <a:xfrm>
            <a:off x="2651760" y="15361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종목명   점수   PER   PBR   ROE   부채   현재가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606040" y="1828800"/>
            <a:ext cx="3749040" cy="347472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36" name="Text 34"/>
          <p:cNvSpPr/>
          <p:nvPr/>
        </p:nvSpPr>
        <p:spPr>
          <a:xfrm>
            <a:off x="2651760" y="184708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삼성전자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29000" y="184708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92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94760" y="184708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12.3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06240" y="184708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1.42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17720" y="184708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15.2%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74920" y="184708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45%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40680" y="18470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72,500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606040" y="2212848"/>
            <a:ext cx="3749040" cy="3474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4" name="Text 42"/>
          <p:cNvSpPr/>
          <p:nvPr/>
        </p:nvSpPr>
        <p:spPr>
          <a:xfrm>
            <a:off x="2651760" y="2231136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현대차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429000" y="223113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88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94760" y="2231136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6.8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206240" y="2231136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0.65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17720" y="223113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12.8%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74920" y="223113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89%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40680" y="223113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245,500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606040" y="2596896"/>
            <a:ext cx="3749040" cy="3474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2" name="Text 50"/>
          <p:cNvSpPr/>
          <p:nvPr/>
        </p:nvSpPr>
        <p:spPr>
          <a:xfrm>
            <a:off x="2651760" y="261518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POSCO홀딩스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429000" y="261518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85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794760" y="261518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8.2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206240" y="261518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0.52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617720" y="261518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11.5%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74920" y="261518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67%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440680" y="261518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389,000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606040" y="2980944"/>
            <a:ext cx="3749040" cy="3474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0" name="Text 58"/>
          <p:cNvSpPr/>
          <p:nvPr/>
        </p:nvSpPr>
        <p:spPr>
          <a:xfrm>
            <a:off x="2651760" y="299923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KB금융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429000" y="299923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83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794760" y="299923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5.4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206240" y="299923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0.48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617720" y="299923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10.2%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074920" y="299923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N/A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40680" y="299923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78,200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606040" y="3364992"/>
            <a:ext cx="3749040" cy="34747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8" name="Text 66"/>
          <p:cNvSpPr/>
          <p:nvPr/>
        </p:nvSpPr>
        <p:spPr>
          <a:xfrm>
            <a:off x="2651760" y="338328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신한지주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429000" y="3383280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81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794760" y="3383280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5.8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206240" y="3383280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0.45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617720" y="338328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10.8%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074920" y="3383280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N/A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40680" y="338328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52,100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583680" y="1097280"/>
            <a:ext cx="2194560" cy="37033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6" name="Text 74"/>
          <p:cNvSpPr/>
          <p:nvPr/>
        </p:nvSpPr>
        <p:spPr>
          <a:xfrm>
            <a:off x="672084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삼성전자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720840" y="1417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005930 · 전기전자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720840" y="16916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종합 점수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772400" y="16002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92</a:t>
            </a:r>
            <a:endParaRPr lang="en-US" sz="2400" dirty="0"/>
          </a:p>
        </p:txBody>
      </p:sp>
      <p:sp>
        <p:nvSpPr>
          <p:cNvPr id="80" name="Text 78"/>
          <p:cNvSpPr/>
          <p:nvPr/>
        </p:nvSpPr>
        <p:spPr>
          <a:xfrm>
            <a:off x="672084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점수 구성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720840" y="22860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품질 점수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818120" y="22860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46/50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720840" y="2487168"/>
            <a:ext cx="1828800" cy="73152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84" name="Shape 82"/>
          <p:cNvSpPr/>
          <p:nvPr/>
        </p:nvSpPr>
        <p:spPr>
          <a:xfrm>
            <a:off x="6720840" y="2487168"/>
            <a:ext cx="1682496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5" name="Text 83"/>
          <p:cNvSpPr/>
          <p:nvPr/>
        </p:nvSpPr>
        <p:spPr>
          <a:xfrm>
            <a:off x="6720840" y="2697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밸류 점수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818120" y="26974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82F6"/>
                </a:solidFill>
              </a:rPr>
              <a:t>18/20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720840" y="2898648"/>
            <a:ext cx="1828800" cy="73152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88" name="Shape 86"/>
          <p:cNvSpPr/>
          <p:nvPr/>
        </p:nvSpPr>
        <p:spPr>
          <a:xfrm>
            <a:off x="6720840" y="2898648"/>
            <a:ext cx="16459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9" name="Text 87"/>
          <p:cNvSpPr/>
          <p:nvPr/>
        </p:nvSpPr>
        <p:spPr>
          <a:xfrm>
            <a:off x="6720840" y="3108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개선 점수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818120" y="3108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28/30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720840" y="3310128"/>
            <a:ext cx="1828800" cy="73152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92" name="Shape 90"/>
          <p:cNvSpPr/>
          <p:nvPr/>
        </p:nvSpPr>
        <p:spPr>
          <a:xfrm>
            <a:off x="6720840" y="3310128"/>
            <a:ext cx="1706880" cy="73152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스크리너 기능 상세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슬라이더 필터 (4가지)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PER: 0 &lt; PER ≤ 15 (낮을수록 저평가)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PBR: ≤ 1.5 (낮을수록 저평가)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ROE: ≥ 10% (높을수록 수익성 좋음)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부채비율: ≤ 100% (낮을수록 안전)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114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정렬 옵션 (5가지)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종합 점수순 (기본)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ROE 높은순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PER 낮은순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PBR 낮은순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시가총액 높은순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종합 점수 계산 공식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6576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종합 점수 = 품질(50점) + 밸류에이션(20점) + 개선(30점)  ← 만점 100점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품질 점수 (50점):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4160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ROE (20점) + ROA (15점) + 영업이익률 (15점)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434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밸류에이션 점수 (20점):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4348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PBR 점수 (10점) + PER 상대점수 (10점)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• 개선 점수 (30점):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4709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ROE 개선 (12점) + 영업이익률 개선 (12점) + PBR 하락 (6점)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종합 점수 계산 상세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품질 점수 (50점)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수익성 평가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46888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813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ROE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1720" y="1481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20점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min(ROE × 1, 20)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246888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842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ROA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19842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15점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1671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min(ROA × 1.5, 15)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423160"/>
            <a:ext cx="246888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871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영업이익률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24871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15점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67004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min(영업이익률 × 1, 15)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73152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밸류에이션 (20점)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1143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저평가 정도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1417320"/>
            <a:ext cx="2468880" cy="64008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14813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PBR 점수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1481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10점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16642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max(10 - PBR×5, 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18288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PBR 낮을수록 고득점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83280" y="2103120"/>
            <a:ext cx="2468880" cy="77724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1671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PER 상대점수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21671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10점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0" y="23500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max(10-(PER/업종평균)×5, 0)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74720" y="25146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업종 평균 대비 저평가 시 고득점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73152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개선 점수 (30점)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1143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재무 개선 추세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1417320"/>
            <a:ext cx="2468880" cy="4572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14813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ROE 개선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92440" y="14813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12점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16642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min(max(ROE변화×2, 0), 12)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63640" y="1920240"/>
            <a:ext cx="2468880" cy="4572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19842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영업이익률 개선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92440" y="19842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12점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21671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min(max(변화×2, 0), 12)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63640" y="2423160"/>
            <a:ext cx="2468880" cy="4572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24871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PBR 하락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92440" y="248716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6점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267004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min(max(PBR하락폭×10, 0), 6)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3429000"/>
            <a:ext cx="8503920" cy="9144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예시: 삼성전자 (ROE 15.2%, ROA 8.5%, 영업이익률 12.3%, PBR 1.42, PER 12.3)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→ 품질 40.25점 + 밸류 8.8점 + 개선 8.7점 = 57.75점 / 100점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6576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설계 원칙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6576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선형 보간 + 상한선: 극단값이 점수를 왜곡하지 않도록  • 음수 방지: 고평가 종목도 0점 (마이너스 없음)  • 업종 상대 비교: PER은 업종 평균 대비 비율 사용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테마 시그널 감지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거래량 급증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테마 관련 종목들의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거래량이 급증할 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2286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20일 평균 대비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+100% 이상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🏦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기관/외국인 매집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기관/외국인이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집중 매수할 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926080"/>
            <a:ext cx="2286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971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5일 누적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+500억 이상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6517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동반 상승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테마 내 종목들이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함께 상승할 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2286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971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테마 내 70% 이상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종목 상승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신뢰도 등급: HIGH (70~100점) | MEDIUM (40~69점) | LOW (0~39점)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테마 신뢰도 계산 로직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503920" cy="4572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신뢰도 점수 = 거래량(30점) + 수급(50점) + 동반상승(20점)  ← 만점 100점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거래량 급증 (30점)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+50% 미만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31720" y="1691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0점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+50%~+100%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10점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+100%~+200%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2331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20점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+200% 이상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30점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971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min((증가율%-50)/5, 30)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280160"/>
            <a:ext cx="2743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수급 점수 (50점) 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순매도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0점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901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0~+100억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19019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10점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15798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+100~+300억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215798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20점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24140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+300~+500억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241401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35점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6700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+500억 이상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50점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971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min(max(순매수억/10, 0), 50)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26480" y="1280160"/>
            <a:ext cx="2743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동반상승 (20점)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3640" y="1645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50% 미만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92440" y="16459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0점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19019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50%~60%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92440" y="19019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5점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215798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60%~70%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92440" y="215798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10점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24140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70%~80%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92440" y="241401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15점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26700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80% 이상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92440" y="2670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20점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2971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min(max((비율%-50)×0.67, 0), 20)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6576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신뢰도 등급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611880"/>
            <a:ext cx="2560320" cy="457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LOW: 0~39점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108960" y="3611880"/>
            <a:ext cx="256032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MEDIUM: 40~69점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852160" y="3611880"/>
            <a:ext cx="2743200" cy="4572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5216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HIGH: 70~100점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4206240"/>
            <a:ext cx="8503920" cy="7772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예시: AI/반도체 테마 — 거래량 +150% (20점) + 수급 +420억 (42점) + 동반상승 75% (15점) = 77점 → HIGH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방향예측 로직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⚠️ AI 예측이 아닌 시그널 데이터를 조합한 단순 판단입니다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방향예측 조건표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2004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74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조건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1783080"/>
            <a:ext cx="5029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표시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신뢰도 HIGH + 순매수 양수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2240280"/>
            <a:ext cx="5029200" cy="64008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⬆ 상승 가능성 높음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신뢰도 MEDIUM + 순매수 양수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880360"/>
            <a:ext cx="502920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↗ 상승 가능성 있음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03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신뢰도 LOW 또는 순매도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3520440"/>
            <a:ext cx="502920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— 관망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822960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💡 핵심: 신뢰도 등급 + 순매수 방향을 조합하여 단순하게 방향성 표시 (면책 문구 필수)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타이밍 지표 (RSI/MACD)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신뢰도 = 테마가 살아있나? (pykrx)  |  타이밍 = 지금 들어가도 되나? (TradingView)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RSI 기반 판단 (테마 과열도)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테마 내 종목 RSI 14일 평균값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474720" cy="320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70 이상 → 과열 (과매수)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3474720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30~70 → 중립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3474720" cy="3200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30 이하 → 저점 (과매도)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508760"/>
            <a:ext cx="3840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MACD 기반 판단 (추세 방향)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테마 내 MACD 골든크로스 비율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2194560"/>
            <a:ext cx="3474720" cy="3200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2402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60% 이상 → 상승 추세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560320"/>
            <a:ext cx="347472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606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40~60% → 혼조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926080"/>
            <a:ext cx="3474720" cy="320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29718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40% 미만 → 하락 추세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타이밍 종합 등급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2743200" cy="59436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🟢 진입 적기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041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</a:rPr>
              <a:t>RSI&lt;70 AND 골든크로스≥60%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3749040"/>
            <a:ext cx="2743200" cy="5943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🔴 과열/하락 주의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4041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RSI≥70 OR 골든크로스&lt;40%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3749040"/>
            <a:ext cx="246888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🟡 관망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40416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그 외 (혼조 상태)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526280"/>
            <a:ext cx="8229600" cy="502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💡 신뢰도 HIGH + 타이밍 진입적기 = 가장 좋은 조합  |  신뢰도 HIGH + 과열주의 = 테마는 강하지만 조심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투자 용어 설명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114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PER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Price to Earnings Ratio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주가 ÷ 주당순이익. 낮을수록 저평가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예) PER 10 = 10년치 이익으로 시총 회수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960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PBR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10058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Price to Book Ratio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주가 ÷ 주당순자산. 1 미만이면 청산가치 이하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예) PBR 0.8 = 순자산보다 20% 할인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114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86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ROE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331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Return on Equity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당기순이익 ÷ 자기자본. 높을수록 수익성 좋음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예) ROE 15% = 자본 100원으로 15원 벌음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4114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286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부채비율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2331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Debt to Equity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부채 ÷ 자기자본. 낮을수록 재무건전성 좋음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예) 100% = 부채와 자본이 같음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4114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11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RSI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6576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Relative Strength Index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931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과매수/과매도 지표. 70↑ 과매수, 30↓ 과매도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예) RSI 25 = 과매도, 반등 가능성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520440"/>
            <a:ext cx="4114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611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MACD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36576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Moving Average Convergence Divergence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931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추세 전환 시그널. 골든크로스/데드크로스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예) MACD 골든크로스 = 상승 전환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테마 목록 (20개)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645920" cy="64008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첨단기술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86868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8686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AI/반도체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31920" y="86868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8686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로봇/자동화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86868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8686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우주항공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86868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8686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양자컴퓨팅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645920"/>
            <a:ext cx="1645920" cy="6400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645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에너지/소재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164592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6459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2차전지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164592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6459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신재생에너지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164592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6459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수소경제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164592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6459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희토류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423160"/>
            <a:ext cx="1645920" cy="64008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423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바이오/헬스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242316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24231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바이오/제약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31920" y="242316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24231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의료기기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242316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24231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디지털헬스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23760" y="242316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24231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고령화/실버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200400"/>
            <a:ext cx="1645920" cy="6400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200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산업/방산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0" y="3200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32004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방위산업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31920" y="3200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32004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조선/해운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77840" y="3200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2004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건설/인프라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23760" y="3200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320040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원자력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977640"/>
            <a:ext cx="1645920" cy="64008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977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금융/소비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286000" y="397764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3977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금융/핀테크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931920" y="397764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3977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게임/엔터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577840" y="397764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77840" y="3977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리츠/부동산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223760" y="397764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3977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화장품/K뷰티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시그널 기준 (논의 필요)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시그널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기준안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선택지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비고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거래량 급증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20일 평균 대비 +100%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+100% / +150% / +200%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높을수록 정확도↑, 빈도↓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기관/외국인 매집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5일 누적 +500억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+300억 / +500억 / +1,000억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대형주 중심 권장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동반 상승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테마 내 70% 상승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60% / 70% / 80%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높을수록 확실한 움직임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914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시그널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103120" y="914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기준안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0" y="914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선택지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914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비고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📌 논의 포인트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886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1. 기준값이 너무 높으면 시그널이 거의 안 뜸 → 사용자 이탈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206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2. 기준값이 너무 낮으면 노이즈가 많음 → 신뢰도 하락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526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3. 시장 상황에 따라 동적 조정 필요한가?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4846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4. 초기에는 보수적으로 시작 후 데이터 보고 조정?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데이터 흐름도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286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데이터 소스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011680" cy="50292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pykrx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주가, PER, PBR, 수급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011680" cy="50292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659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OpenDartReader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재무제표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2011680" cy="50292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TradingView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RSI, MACD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974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108960" y="1371600"/>
            <a:ext cx="1463040" cy="13716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1737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2057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로컬 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22860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원본 지표값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029200" y="91440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120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PC 앱 (Tauri + React)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66360" y="1325880"/>
            <a:ext cx="1737360" cy="41148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테마 분석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95160" y="1325880"/>
            <a:ext cx="1737360" cy="4114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스크리너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66360" y="1828800"/>
            <a:ext cx="1737360" cy="411480"/>
          </a:xfrm>
          <a:prstGeom prst="round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종목 상세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95160" y="1828800"/>
            <a:ext cx="1737360" cy="411480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시야 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점수 계산 모듈 (별도 분리)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85039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840480"/>
            <a:ext cx="2468880" cy="4572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품질 점수 (50점)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3840480"/>
            <a:ext cx="2468880" cy="45720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밸류 점수 (20점)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52160" y="3840480"/>
            <a:ext cx="2468880" cy="4572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852160" y="3931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개선 점수 (30점)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617720"/>
            <a:ext cx="850392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</a:rPr>
              <a:t>📌 향후: 한국투자증권 오픈API → 실시간 시세 (수집 모듈만 교체, DB/앱 수정 불필요)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시야 AI 화면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DB 데이터 + 웹검색 기반 AI 분석 어시스턴트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답변 범위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057400" cy="64008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441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특정 종목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"삼성전자 살 만한가요?"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2057400" cy="64008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3441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종목 간 비교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61848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"삼성 vs SK하이닉스"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2057400" cy="64008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441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종목 추천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61848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"지금 어떤 종목이 좋아?"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040880" y="1280160"/>
            <a:ext cx="2057400" cy="64008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34416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투자 일반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161848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"PBR이 뭐야?"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작동 방식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1554480" cy="685800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395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사용자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질문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103120" y="2331720"/>
            <a:ext cx="1554480" cy="68580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2395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① DB 조회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2651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ROE, PBR, PER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0480" y="2331720"/>
            <a:ext cx="1554480" cy="6858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395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② 웹검색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2651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뉴스, 공시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9496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77840" y="2331720"/>
            <a:ext cx="1554480" cy="68580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2395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③ Claude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2651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데이터 + 질문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0" y="2514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15200" y="2331720"/>
            <a:ext cx="1554480" cy="6858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2395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④ 답변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2651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생성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답변 구성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474720"/>
            <a:ext cx="850392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3611880"/>
            <a:ext cx="4114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본문 답변 (자연어)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3977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삼성전자는 현재 PER 12.3으로 업종 평균 대비 저평가...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" y="41605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ROE 15.2%로 수익성도 양호합니다...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611880"/>
            <a:ext cx="1920240" cy="5029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6758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</a:rPr>
              <a:t>핵심 강점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38862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F46"/>
                </a:solidFill>
              </a:rPr>
              <a:t>• ROE 15.2% 양호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12280" y="3611880"/>
            <a:ext cx="1920240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36758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주요 리스크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03720" y="38862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</a:rPr>
              <a:t>• 반도체 업황 불확실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4206240"/>
            <a:ext cx="1920240" cy="41148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4297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 Sonnet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4892040"/>
            <a:ext cx="850392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983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면책 문구 (필수): "이 분석은 참고용이며 투자 결정은 본인 판단으로 하세요."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데이터 소스 및 기술 스택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데이터 소스 (무료)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645920" cy="4114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pykrx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280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주가, 거래량, 기관/외국인 수급, PER, PBR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645920" cy="4114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OpenDartReader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783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재무제표 (매출, 영업이익, 부채 등)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645920" cy="4114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TradingView-Screener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286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RSI, MACD → 테마 타이밍 지표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645920" cy="41148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한국투자증권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788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실시간 시세 (Phase 2)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기술 스택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프론트엔드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Tauri + React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경량 데스크톱 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379476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백엔드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Python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06040" y="4434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데이터 수집 및 분석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데이터베이스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SQLite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0" y="4434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로컬 저장소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03720" y="379476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Claude API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4434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시야 AI 화면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다음 단계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2926080"/>
          </a:xfrm>
          <a:prstGeom prst="round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Phase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MVP 개발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테마-종목 매핑 DB 구축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시그널 계산 로직 구현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기본 UI 완성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2926080"/>
          </a:xfrm>
          <a:prstGeom prst="roundRect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기능 확장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실시간 데이터 연동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시야 AI 통합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알림 시스템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51760" cy="2926080"/>
          </a:xfrm>
          <a:prstGeom prst="roundRect">
            <a:avLst/>
          </a:prstGeom>
          <a:solidFill>
            <a:srgbClr val="374151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</a:rPr>
              <a:t>Phase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최적화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백테스팅 기능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성과 분석 대시보드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• 사용자 피드백 반영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📋 이번 미팅에서 논의할 사항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방향성 확인  ✓ 초기 테마 20개  ✓ 시그널 기준값  ✓ MVP 범위/일정  ✓ 기타 의견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시야 PC앱 기획서 v4</dc:title>
  <dc:subject>PptxGenJS Presentation</dc:subject>
  <dc:creator>PptxGenJS</dc:creator>
  <cp:lastModifiedBy>PptxGenJS</cp:lastModifiedBy>
  <cp:revision>1</cp:revision>
  <dcterms:created xsi:type="dcterms:W3CDTF">2026-03-26T06:24:07Z</dcterms:created>
  <dcterms:modified xsi:type="dcterms:W3CDTF">2026-03-26T06:24:07Z</dcterms:modified>
</cp:coreProperties>
</file>